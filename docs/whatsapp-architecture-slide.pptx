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86803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B0B0B"/>
                </a:solidFill>
                <a:latin typeface="Segoe UI"/>
              </a:rPr>
              <a:t>WhatsApp Integration — 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497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>
                <a:solidFill>
                  <a:srgbClr val="52514E"/>
                </a:solidFill>
                <a:latin typeface="Segoe UI"/>
              </a:rPr>
              <a:t>Direct Meta Cloud API  ·  no BSP/aggregator  ·  one customer identity across WhatsApp, email &amp; web chat  ·  human-in-the-loop on everything escalated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62588" y="301752"/>
            <a:ext cx="208483" cy="155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30" b="1" i="0" spc="20">
                <a:solidFill>
                  <a:srgbClr val="1E7B34"/>
                </a:solidFill>
                <a:latin typeface="Segoe UI"/>
              </a:rPr>
              <a:t>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66400" y="301752"/>
            <a:ext cx="541324" cy="155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525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30" b="1" i="0" spc="20">
                <a:solidFill>
                  <a:srgbClr val="52514E"/>
                </a:solidFill>
                <a:latin typeface="Segoe UI"/>
              </a:rPr>
              <a:t>GROQ 477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22663" y="301752"/>
            <a:ext cx="588873" cy="1554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525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30" b="1" i="0" spc="20">
                <a:solidFill>
                  <a:srgbClr val="52514E"/>
                </a:solidFill>
                <a:latin typeface="Segoe UI"/>
              </a:rPr>
              <a:t>$0.0062 / WK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868680"/>
            <a:ext cx="11423599" cy="12700"/>
          </a:xfrm>
          <a:prstGeom prst="rect">
            <a:avLst/>
          </a:prstGeom>
          <a:solidFill>
            <a:srgbClr val="D9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987552"/>
            <a:ext cx="2395728" cy="173736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 spc="70">
                <a:solidFill>
                  <a:srgbClr val="2A78D6"/>
                </a:solidFill>
                <a:latin typeface="Segoe UI"/>
              </a:rPr>
              <a:t>1 · INGEST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987552"/>
            <a:ext cx="5138928" cy="173736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 spc="70">
                <a:solidFill>
                  <a:srgbClr val="4A3AA7"/>
                </a:solidFill>
                <a:latin typeface="Segoe UI"/>
              </a:rPr>
              <a:t>2 · AI PIPELINE — LangGraph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987552"/>
            <a:ext cx="2103120" cy="173736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 spc="70">
                <a:solidFill>
                  <a:srgbClr val="EB6834"/>
                </a:solidFill>
                <a:latin typeface="Segoe UI"/>
              </a:rPr>
              <a:t>3 · HUMAN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51008" y="987552"/>
            <a:ext cx="1463040" cy="173736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 i="0" spc="70">
                <a:solidFill>
                  <a:srgbClr val="1BAF7A"/>
                </a:solidFill>
                <a:latin typeface="Segoe UI"/>
              </a:rPr>
              <a:t>4 · DELIVER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298448"/>
            <a:ext cx="1133856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66344" y="1376172"/>
            <a:ext cx="969264" cy="406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45389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2A78D6"/>
                </a:solidFill>
                <a:latin typeface="Segoe UI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1627632"/>
            <a:ext cx="932688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WhatsApp on phone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Meta-verified number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text · button · list reply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1298448"/>
            <a:ext cx="1133856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728216" y="1376172"/>
            <a:ext cx="969264" cy="406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504" y="1453896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2A78D6"/>
                </a:solidFill>
                <a:latin typeface="Segoe UI"/>
              </a:rPr>
              <a:t>META CLOUD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6504" y="1627632"/>
            <a:ext cx="932688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Graph API v20.0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webhook → our endpoint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690" b="0" i="0">
                <a:solidFill>
                  <a:srgbClr val="52514E"/>
                </a:solidFill>
                <a:latin typeface="Consolas"/>
              </a:rPr>
              <a:t>POST /messages (out)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9504" y="1298448"/>
            <a:ext cx="120700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971800" y="1376172"/>
            <a:ext cx="1042416" cy="4064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14538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4A3AA7"/>
                </a:solidFill>
                <a:latin typeface="Segoe UI"/>
              </a:rPr>
              <a:t>SECURE INGEST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8" y="1627632"/>
            <a:ext cx="100584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HMAC SHA-256 verify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690" b="0" i="0">
                <a:solidFill>
                  <a:srgbClr val="52514E"/>
                </a:solidFill>
                <a:latin typeface="Consolas"/>
              </a:rPr>
              <a:t>x-hub-signature-256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403 on bad token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idempotent by msg_id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9584" y="1426464"/>
            <a:ext cx="475488" cy="137160"/>
          </a:xfrm>
          <a:prstGeom prst="roundRect">
            <a:avLst/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 i="0" spc="30">
                <a:solidFill>
                  <a:srgbClr val="1E7B34"/>
                </a:solidFill>
                <a:latin typeface="Segoe UI"/>
              </a:rPr>
              <a:t>SECURE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39" y="1298448"/>
            <a:ext cx="1225296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288535" y="1376172"/>
            <a:ext cx="1060704" cy="4064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6823" y="1453896"/>
            <a:ext cx="10241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4A3AA7"/>
                </a:solidFill>
                <a:latin typeface="Segoe UI"/>
              </a:rPr>
              <a:t>IDENTITY +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3" y="1627632"/>
            <a:ext cx="1024128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Phone → Neo4j customer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91-prefix tolerant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links email ↔ phone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loads cross-channel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41264" y="1298448"/>
            <a:ext cx="11887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5623560" y="1376172"/>
            <a:ext cx="1024128" cy="4064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1848" y="1453896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4A3AA7"/>
                </a:solidFill>
                <a:latin typeface="Segoe UI"/>
              </a:rPr>
              <a:t>INTENT + SEVERITY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1848" y="1627632"/>
            <a:ext cx="9875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16 BFSI intents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L1 / L2 / L3 routing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23 regex → forced L3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PII masked before LLM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39712" y="1298448"/>
            <a:ext cx="118872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922008" y="1376172"/>
            <a:ext cx="1024128" cy="4064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0296" y="1453896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4A3AA7"/>
                </a:solidFill>
                <a:latin typeface="Segoe UI"/>
              </a:rPr>
              <a:t>GROUND +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0296" y="1627632"/>
            <a:ext cx="9875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Neo4j = my data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OpenSearch KB = policy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cited, confidence-scored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11-rule escalation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1298448"/>
            <a:ext cx="10058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8220456" y="1376172"/>
            <a:ext cx="841248" cy="4064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8744" y="1453896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EB6834"/>
                </a:solidFill>
                <a:latin typeface="Segoe UI"/>
              </a:rPr>
              <a:t>REVIEW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1627632"/>
            <a:ext cx="8046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Ticket needed →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HOLD, never auto-send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customer gets holding msg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7072" y="1426464"/>
            <a:ext cx="475488" cy="137160"/>
          </a:xfrm>
          <a:prstGeom prst="roundRect">
            <a:avLst/>
          </a:prstGeom>
          <a:solidFill>
            <a:srgbClr val="E8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0" b="1" i="0" spc="30">
                <a:solidFill>
                  <a:srgbClr val="1E7B34"/>
                </a:solidFill>
                <a:latin typeface="Segoe UI"/>
              </a:rPr>
              <a:t>HITL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53728" y="1298448"/>
            <a:ext cx="987552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9336024" y="1376172"/>
            <a:ext cx="822960" cy="4064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2" y="1453896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EB6834"/>
                </a:solidFill>
                <a:latin typeface="Segoe UI"/>
              </a:rPr>
              <a:t>AGENT EDITS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1627632"/>
            <a:ext cx="78638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Draft + confidence pills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edit → Send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or approve an offer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51008" y="1298448"/>
            <a:ext cx="14630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10433304" y="1376172"/>
            <a:ext cx="1298448" cy="4064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51592" y="145389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1BAF7A"/>
                </a:solidFill>
                <a:latin typeface="Segoe UI"/>
              </a:rPr>
              <a:t>DELIVERY + RECONCILE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51592" y="1627632"/>
            <a:ext cx="126187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Meta send, 3× retry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sent→delivered→read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failure code captured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billing category logged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517904" y="2029968"/>
            <a:ext cx="128016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79776" y="2029968"/>
            <a:ext cx="109728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767328" y="2029968"/>
            <a:ext cx="438911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31536" y="2029968"/>
            <a:ext cx="109728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729984" y="2029968"/>
            <a:ext cx="109728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028431" y="2029968"/>
            <a:ext cx="109729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144000" y="2029968"/>
            <a:ext cx="109728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41280" y="2029968"/>
            <a:ext cx="109728" cy="0"/>
          </a:xfrm>
          <a:prstGeom prst="line">
            <a:avLst/>
          </a:prstGeom>
          <a:ln w="15875">
            <a:solidFill>
              <a:srgbClr val="8A89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950976" y="2935224"/>
            <a:ext cx="10863072" cy="182880"/>
          </a:xfrm>
          <a:prstGeom prst="roundRect">
            <a:avLst/>
          </a:prstGeom>
          <a:solidFill>
            <a:srgbClr val="EC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20" b="1" i="0">
                <a:solidFill>
                  <a:srgbClr val="147A55"/>
                </a:solidFill>
                <a:latin typeface="Segoe UI"/>
              </a:rPr>
              <a:t>◀   reply returns on the SAME channel   ·   ticket ref in *bold* WhatsApp markup   ·   3–4 line format, no greeting duplication   ·   every step audit-logged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4048" y="3246120"/>
            <a:ext cx="2212848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466344" y="3323844"/>
            <a:ext cx="2048256" cy="4064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4632" y="34015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1BAF7A"/>
                </a:solidFill>
                <a:latin typeface="Segoe UI"/>
              </a:rPr>
              <a:t>GROUNDED IN REAL 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4632" y="3575304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Neo4j graph: 5 customers, 13 rel types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Accounts · cards · loans · FDs · policies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claims · txns · charges · KYC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One traversal, not a 10-way join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No data → falls through, never guesses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702052" y="3246120"/>
            <a:ext cx="2212848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2784348" y="3323844"/>
            <a:ext cx="2048256" cy="4064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02636" y="34015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4A3AA7"/>
                </a:solidFill>
                <a:latin typeface="Segoe UI"/>
              </a:rPr>
              <a:t>KNOWLEDGE + RAG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02636" y="3575304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OpenSearch HNSW, 384-d MiniLM (local)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Embeddings never leave the stack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Hybrid vector + BFSI keyword rerank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Weak retrieval (&lt;0.3) → human, not a guess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Citations to file:page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0056" y="3246120"/>
            <a:ext cx="2212848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5102352" y="3323844"/>
            <a:ext cx="2048256" cy="4064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20640" y="34015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EB6834"/>
                </a:solidFill>
                <a:latin typeface="Segoe UI"/>
              </a:rPr>
              <a:t>GUARDRAILS — 6 LAYERS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0" y="3575304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Deterministic net runs BEFORE the LLM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LLM picks only from validated options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Output corrected: urgency only raised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Fail-safe: doubt → fork, never merge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Nothing escalated reaches a customer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38060" y="3246120"/>
            <a:ext cx="2212848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7420356" y="3323844"/>
            <a:ext cx="2048256" cy="4064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38644" y="34015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2A78D6"/>
                </a:solidFill>
                <a:latin typeface="Segoe UI"/>
              </a:rPr>
              <a:t>OMNICHANNEL CONTINUITY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38644" y="3575304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One matter = ONE ticket across channels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Scope match → refine → LLM referee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Opened on email, followed up on WhatsApp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Different matter → correctly forks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Cross-sell offers, admin-approved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656064" y="3246120"/>
            <a:ext cx="2212848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9738360" y="3323844"/>
            <a:ext cx="2048256" cy="4064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34015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1" i="0" spc="60">
                <a:solidFill>
                  <a:srgbClr val="4A3AA7"/>
                </a:solidFill>
                <a:latin typeface="Segoe UI"/>
              </a:rPr>
              <a:t>OBSERVABILITY + FINOPS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56648" y="3575304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Langfuse: session = conversation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user = customer, cost per trace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In-house ledger: tokens · cost · latency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103 calls · 119,209 tok · $0.0062 / wk</a:t>
            </a:r>
          </a:p>
          <a:p>
            <a:pPr>
              <a:lnSpc>
                <a:spcPct val="92000"/>
              </a:lnSpc>
              <a:spcAft>
                <a:spcPts val="120"/>
              </a:spcAft>
            </a:pPr>
            <a:r>
              <a:rPr sz="730" b="0" i="0">
                <a:solidFill>
                  <a:srgbClr val="0B0B0B"/>
                </a:solidFill>
                <a:latin typeface="Segoe UI"/>
              </a:rPr>
              <a:t>Config fingerprint v-1412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048" y="4727448"/>
            <a:ext cx="11423599" cy="12700"/>
          </a:xfrm>
          <a:prstGeom prst="rect">
            <a:avLst/>
          </a:prstGeom>
          <a:solidFill>
            <a:srgbClr val="D9D9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4048" y="480974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0B0B0B"/>
                </a:solidFill>
                <a:latin typeface="Segoe UI"/>
              </a:rPr>
              <a:t>Production path:  </a:t>
            </a:r>
            <a:r>
              <a:rPr sz="760" b="0" i="0">
                <a:solidFill>
                  <a:srgbClr val="52514E"/>
                </a:solidFill>
                <a:latin typeface="Segoe UI"/>
              </a:rPr>
              <a:t>permanent System User token  ·  real domain + TLS (retires the dev tunnel)  ·  async queue workers  ·  message templates + 24 h session window  ·  media OCR  ·  consent ledger (DPDP)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4048" y="5001768"/>
            <a:ext cx="8138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1">
                <a:solidFill>
                  <a:srgbClr val="8A8985"/>
                </a:solidFill>
                <a:latin typeface="Segoe UI"/>
              </a:rPr>
              <a:t>Today: local test mode with live Meta credentials — outbound &amp; webhook both verified ready.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98687" y="480974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60" b="1" i="0">
                <a:solidFill>
                  <a:srgbClr val="0B0B0B"/>
                </a:solidFill>
                <a:latin typeface="Segoe UI"/>
              </a:rPr>
              <a:t>Omnichannel CX Accelerator</a:t>
            </a:r>
          </a:p>
          <a:p>
            <a:pPr algn="r"/>
            <a:r>
              <a:rPr sz="680" b="0" i="0">
                <a:solidFill>
                  <a:srgbClr val="8A8985"/>
                </a:solidFill>
                <a:latin typeface="Segoe UI"/>
              </a:rPr>
              <a:t>Verified against the running stack · 30 Jul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